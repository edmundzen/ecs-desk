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Google Sans Flex" panose="020B0604020202020204" charset="0"/>
      <p:regular r:id="rId19"/>
      <p:bold r:id="rId20"/>
    </p:embeddedFont>
    <p:embeddedFont>
      <p:font typeface="Google Sans Flex Medium" panose="020B0604020202020204" charset="0"/>
      <p:regular r:id="rId21"/>
      <p:bold r:id="rId22"/>
    </p:embeddedFont>
    <p:embeddedFont>
      <p:font typeface="Google Sans Flex SemiBold" panose="020B0604020202020204" charset="0"/>
      <p:regular r:id="rId23"/>
      <p:bold r:id="rId24"/>
    </p:embeddedFont>
    <p:embeddedFont>
      <p:font typeface="Nirmala UI" panose="020B0502040204020203" pitchFamily="3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fb085bff3c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fb085bff3c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fb085bff3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fb085bff3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fb085bff3c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fb085bff3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b085bff3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b085bff3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b085bff3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b085bff3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b085bff3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b085bff3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fb085bff3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b085bff3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b085bff3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b085bff3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fb085bff3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b085bff3c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fb085bff3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b085bff3c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b085bff3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b085bff3c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b085bff3c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fb085bff3c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fb085bff3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fb085bff3c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fb085bff3c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fb085bff3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fb085bff3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dirty="0">
                <a:latin typeface="Google Sans Flex SemiBold"/>
                <a:ea typeface="Google Sans Flex SemiBold"/>
                <a:cs typeface="Google Sans Flex SemiBold"/>
                <a:sym typeface="Google Sans Flex SemiBold"/>
              </a:rPr>
              <a:t>Team Details</a:t>
            </a:r>
            <a:endParaRPr sz="2100" dirty="0">
              <a:latin typeface="Google Sans Flex SemiBold"/>
              <a:ea typeface="Google Sans Flex SemiBold"/>
              <a:cs typeface="Google Sans Flex SemiBold"/>
              <a:sym typeface="Google Sans Flex SemiBold"/>
            </a:endParaRPr>
          </a:p>
          <a:p>
            <a:pPr marL="0" lvl="0" indent="0" algn="l" rtl="0">
              <a:spcBef>
                <a:spcPts val="0"/>
              </a:spcBef>
              <a:spcAft>
                <a:spcPts val="0"/>
              </a:spcAft>
              <a:buNone/>
            </a:pPr>
            <a:endParaRPr sz="1800" dirty="0">
              <a:latin typeface="Google Sans Flex Medium"/>
              <a:ea typeface="Google Sans Flex Medium"/>
              <a:cs typeface="Google Sans Flex Medium"/>
              <a:sym typeface="Google Sans Flex Medium"/>
            </a:endParaRPr>
          </a:p>
          <a:p>
            <a:pPr marL="914400" lvl="1" indent="-342900" algn="l" rtl="0">
              <a:spcBef>
                <a:spcPts val="0"/>
              </a:spcBef>
              <a:spcAft>
                <a:spcPts val="0"/>
              </a:spcAft>
              <a:buSzPts val="1800"/>
              <a:buFont typeface="Google Sans Flex"/>
              <a:buAutoNum type="alphaLcPeriod"/>
            </a:pPr>
            <a:r>
              <a:rPr lang="en-GB" sz="1800" dirty="0">
                <a:latin typeface="Google Sans Flex"/>
                <a:ea typeface="Google Sans Flex"/>
                <a:cs typeface="Google Sans Flex"/>
                <a:sym typeface="Google Sans Flex"/>
              </a:rPr>
              <a:t>Team name: </a:t>
            </a:r>
            <a:r>
              <a:rPr lang="en-GB" sz="1800" dirty="0">
                <a:solidFill>
                  <a:srgbClr val="0070C0"/>
                </a:solidFill>
                <a:latin typeface="Google Sans Flex"/>
                <a:ea typeface="Google Sans Flex"/>
                <a:cs typeface="Google Sans Flex"/>
                <a:sym typeface="Google Sans Flex"/>
              </a:rPr>
              <a:t>Cloud Catalyst</a:t>
            </a:r>
            <a:endParaRPr sz="1800" dirty="0">
              <a:solidFill>
                <a:srgbClr val="0070C0"/>
              </a:solidFill>
              <a:latin typeface="Google Sans Flex"/>
              <a:ea typeface="Google Sans Flex"/>
              <a:cs typeface="Google Sans Flex"/>
              <a:sym typeface="Google Sans Flex"/>
            </a:endParaRPr>
          </a:p>
          <a:p>
            <a:pPr marL="914400" lvl="1" indent="-342900">
              <a:buSzPts val="1800"/>
              <a:buFont typeface="Google Sans Flex"/>
              <a:buAutoNum type="alphaLcPeriod"/>
            </a:pPr>
            <a:r>
              <a:rPr lang="en-GB" sz="1800" dirty="0">
                <a:latin typeface="Google Sans Flex"/>
                <a:ea typeface="Google Sans Flex"/>
                <a:cs typeface="Google Sans Flex"/>
                <a:sym typeface="Google Sans Flex"/>
              </a:rPr>
              <a:t>Team leader name: </a:t>
            </a:r>
            <a:r>
              <a:rPr lang="en-SG" sz="1800" dirty="0"/>
              <a:t>Edmund Anthony</a:t>
            </a:r>
          </a:p>
          <a:p>
            <a:pPr marL="914400" lvl="1" indent="-342900">
              <a:buSzPts val="1800"/>
              <a:buFont typeface="Google Sans Flex"/>
              <a:buAutoNum type="alphaLcPeriod"/>
            </a:pPr>
            <a:r>
              <a:rPr lang="en-GB" sz="1800" dirty="0">
                <a:latin typeface="+mj-lt"/>
                <a:ea typeface="Google Sans Flex"/>
                <a:cs typeface="Google Sans Flex"/>
                <a:sym typeface="Google Sans Flex"/>
              </a:rPr>
              <a:t>Team member: </a:t>
            </a:r>
            <a:r>
              <a:rPr lang="en-SG" sz="1800" dirty="0">
                <a:latin typeface="+mj-lt"/>
              </a:rPr>
              <a:t>Le Shwe Yee Win (Sylvia)</a:t>
            </a:r>
            <a:endParaRPr lang="en-SG" sz="1800" dirty="0">
              <a:latin typeface="+mj-lt"/>
              <a:ea typeface="Google Sans Flex"/>
              <a:cs typeface="Google Sans Flex"/>
              <a:sym typeface="Google Sans Flex"/>
            </a:endParaRPr>
          </a:p>
          <a:p>
            <a:pPr marL="914400" lvl="1" indent="-342900">
              <a:buSzPts val="1800"/>
              <a:buFont typeface="Google Sans Flex"/>
              <a:buAutoNum type="alphaLcPeriod"/>
            </a:pPr>
            <a:r>
              <a:rPr lang="en-GB" sz="1800" dirty="0">
                <a:latin typeface="Google Sans Flex"/>
                <a:ea typeface="Google Sans Flex"/>
                <a:cs typeface="Google Sans Flex"/>
                <a:sym typeface="Google Sans Flex"/>
              </a:rPr>
              <a:t>Problem Statement: </a:t>
            </a:r>
            <a:r>
              <a:rPr lang="en-SG" sz="1800" dirty="0">
                <a:solidFill>
                  <a:schemeClr val="accent5">
                    <a:lumMod val="75000"/>
                  </a:schemeClr>
                </a:solidFill>
              </a:rPr>
              <a:t>Future of Work &amp; Enterprise Productivity</a:t>
            </a:r>
            <a:endParaRPr sz="1800" dirty="0">
              <a:solidFill>
                <a:schemeClr val="accent5">
                  <a:lumMod val="75000"/>
                </a:schemeClr>
              </a:solidFill>
              <a:latin typeface="Google Sans Flex"/>
              <a:ea typeface="Google Sans Flex"/>
              <a:cs typeface="Google Sans Flex"/>
              <a:sym typeface="Google Sans Flex"/>
            </a:endParaRPr>
          </a:p>
          <a:p>
            <a:pPr marL="0" lvl="0" indent="0" algn="l" rtl="0">
              <a:spcBef>
                <a:spcPts val="0"/>
              </a:spcBef>
              <a:spcAft>
                <a:spcPts val="0"/>
              </a:spcAft>
              <a:buNone/>
            </a:pPr>
            <a:endParaRPr sz="1800" dirty="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63;p14"/>
          <p:cNvSpPr txBox="1"/>
          <p:nvPr/>
        </p:nvSpPr>
        <p:spPr>
          <a:xfrm>
            <a:off x="5092475" y="1968750"/>
            <a:ext cx="3311400" cy="120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100">
                <a:solidFill>
                  <a:schemeClr val="lt1"/>
                </a:solidFill>
                <a:latin typeface="Google Sans Flex Medium"/>
                <a:ea typeface="Google Sans Flex Medium"/>
                <a:cs typeface="Google Sans Flex Medium"/>
                <a:sym typeface="Google Sans Flex Medium"/>
              </a:rPr>
              <a:t>Note:</a:t>
            </a:r>
            <a:r>
              <a:rPr lang="en-GB" sz="1100">
                <a:solidFill>
                  <a:schemeClr val="lt1"/>
                </a:solidFill>
                <a:latin typeface="Google Sans Flex"/>
                <a:ea typeface="Google Sans Flex"/>
                <a:cs typeface="Google Sans Flex"/>
                <a:sym typeface="Google Sans Flex"/>
              </a:rPr>
              <a:t> Please download this template to make your edits and submit the final version.</a:t>
            </a:r>
            <a:br>
              <a:rPr lang="en-GB" sz="1100">
                <a:solidFill>
                  <a:schemeClr val="lt1"/>
                </a:solidFill>
                <a:latin typeface="Google Sans Flex"/>
                <a:ea typeface="Google Sans Flex"/>
                <a:cs typeface="Google Sans Flex"/>
                <a:sym typeface="Google Sans Flex"/>
              </a:rPr>
            </a:br>
            <a:br>
              <a:rPr lang="en-GB" sz="1100">
                <a:solidFill>
                  <a:schemeClr val="lt1"/>
                </a:solidFill>
                <a:latin typeface="Google Sans Flex"/>
                <a:ea typeface="Google Sans Flex"/>
                <a:cs typeface="Google Sans Flex"/>
                <a:sym typeface="Google Sans Flex"/>
              </a:rPr>
            </a:br>
            <a:r>
              <a:rPr lang="en-GB" sz="1100">
                <a:solidFill>
                  <a:schemeClr val="lt1"/>
                </a:solidFill>
                <a:latin typeface="Google Sans Flex"/>
                <a:ea typeface="Google Sans Flex"/>
                <a:cs typeface="Google Sans Flex"/>
                <a:sym typeface="Google Sans Flex"/>
              </a:rPr>
              <a:t>To download, go to File &gt; Download &gt; Microsoft PowerPoint (.PPTX). Kindly refrain from sending edit requests.</a:t>
            </a:r>
            <a:endParaRPr sz="1100">
              <a:solidFill>
                <a:schemeClr val="lt1"/>
              </a:solidFill>
              <a:latin typeface="Google Sans Flex"/>
              <a:ea typeface="Google Sans Flex"/>
              <a:cs typeface="Google Sans Flex"/>
              <a:sym typeface="Google Sans Flex"/>
            </a:endParaRPr>
          </a:p>
          <a:p>
            <a:pPr marL="0" lvl="0" indent="0" algn="l" rtl="0">
              <a:spcBef>
                <a:spcPts val="0"/>
              </a:spcBef>
              <a:spcAft>
                <a:spcPts val="0"/>
              </a:spcAft>
              <a:buNone/>
            </a:pP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dist="19050" dir="5400000" algn="bl" rotWithShape="0">
              <a:schemeClr val="lt1">
                <a:alpha val="50000"/>
              </a:scheme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 name="Google Shape;71;p15"/>
          <p:cNvSpPr txBox="1"/>
          <p:nvPr/>
        </p:nvSpPr>
        <p:spPr>
          <a:xfrm>
            <a:off x="265350" y="663825"/>
            <a:ext cx="8713645"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Brief about the idea</a:t>
            </a:r>
          </a:p>
          <a:p>
            <a:pPr marL="0" lvl="0" indent="0" algn="l" rtl="0">
              <a:spcBef>
                <a:spcPts val="0"/>
              </a:spcBef>
              <a:spcAft>
                <a:spcPts val="0"/>
              </a:spcAft>
              <a:buNone/>
            </a:pPr>
            <a:endParaRPr lang="en-GB" sz="1600" dirty="0">
              <a:latin typeface="Google Sans Flex Medium"/>
              <a:ea typeface="Google Sans Flex Medium"/>
              <a:cs typeface="Google Sans Flex Medium"/>
              <a:sym typeface="Google Sans Flex Medium"/>
            </a:endParaRPr>
          </a:p>
          <a:p>
            <a:pPr lvl="0">
              <a:spcBef>
                <a:spcPts val="600"/>
              </a:spcBef>
            </a:pPr>
            <a:r>
              <a:rPr lang="en-SG" sz="1600" dirty="0">
                <a:solidFill>
                  <a:schemeClr val="accent5">
                    <a:lumMod val="75000"/>
                  </a:schemeClr>
                </a:solidFill>
              </a:rPr>
              <a:t>Small businesses lose hours every week on admin: customer messages, complaints, quotes and supplier invoices arriving by email and chat, in different languages. ECS Desk is an AI back office that reads these, sorts them by urgency, and drafts the reply. A human approves every draft before anything goes out.</a:t>
            </a:r>
            <a:endParaRPr sz="1600" dirty="0">
              <a:solidFill>
                <a:schemeClr val="accent5">
                  <a:lumMod val="75000"/>
                </a:schemeClr>
              </a:solidFill>
              <a:latin typeface="Google Sans Flex Medium"/>
              <a:ea typeface="Google Sans Flex Medium"/>
              <a:cs typeface="Google Sans Flex Medium"/>
              <a:sym typeface="Google Sans Flex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6"/>
          <p:cNvSpPr txBox="1"/>
          <p:nvPr/>
        </p:nvSpPr>
        <p:spPr>
          <a:xfrm>
            <a:off x="265350" y="663824"/>
            <a:ext cx="8658644" cy="384511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SemiBold"/>
                <a:ea typeface="Google Sans Flex SemiBold"/>
                <a:cs typeface="Google Sans Flex SemiBold"/>
                <a:sym typeface="Google Sans Flex SemiBold"/>
              </a:rPr>
              <a:t>Opportunities</a:t>
            </a:r>
            <a:br>
              <a:rPr lang="en-GB" sz="1600" dirty="0">
                <a:latin typeface="Google Sans Flex SemiBold"/>
                <a:ea typeface="Google Sans Flex SemiBold"/>
                <a:cs typeface="Google Sans Flex SemiBold"/>
                <a:sym typeface="Google Sans Flex SemiBold"/>
              </a:rPr>
            </a:br>
            <a:endParaRPr sz="1600" dirty="0">
              <a:latin typeface="Google Sans Flex SemiBold"/>
              <a:ea typeface="Google Sans Flex SemiBold"/>
              <a:cs typeface="Google Sans Flex SemiBold"/>
              <a:sym typeface="Google Sans Flex SemiBold"/>
            </a:endParaRPr>
          </a:p>
          <a:p>
            <a:pPr marL="457200" lvl="0" indent="-311150" algn="l" rtl="0">
              <a:spcBef>
                <a:spcPts val="0"/>
              </a:spcBef>
              <a:spcAft>
                <a:spcPts val="0"/>
              </a:spcAft>
              <a:buSzPts val="1300"/>
              <a:buFont typeface="Google Sans Flex"/>
              <a:buChar char="●"/>
            </a:pPr>
            <a:r>
              <a:rPr lang="en-GB" sz="1300" dirty="0">
                <a:latin typeface="Google Sans Flex"/>
                <a:ea typeface="Google Sans Flex"/>
                <a:cs typeface="Google Sans Flex"/>
                <a:sym typeface="Google Sans Flex"/>
              </a:rPr>
              <a:t>How different is it from any of the other existing ideas?</a:t>
            </a:r>
            <a:endParaRPr sz="1300" dirty="0">
              <a:latin typeface="Google Sans Flex"/>
              <a:ea typeface="Google Sans Flex"/>
              <a:cs typeface="Google Sans Flex"/>
              <a:sym typeface="Google Sans Flex"/>
            </a:endParaRPr>
          </a:p>
          <a:p>
            <a:pPr marL="457200" lvl="0" indent="-311150" algn="l" rtl="0">
              <a:spcBef>
                <a:spcPts val="0"/>
              </a:spcBef>
              <a:spcAft>
                <a:spcPts val="0"/>
              </a:spcAft>
              <a:buSzPts val="1300"/>
              <a:buFont typeface="Google Sans Flex"/>
              <a:buChar char="●"/>
            </a:pPr>
            <a:r>
              <a:rPr lang="en-GB" sz="1300" dirty="0">
                <a:latin typeface="Google Sans Flex"/>
                <a:ea typeface="Google Sans Flex"/>
                <a:cs typeface="Google Sans Flex"/>
                <a:sym typeface="Google Sans Flex"/>
              </a:rPr>
              <a:t>How will it be able to solve the problem?</a:t>
            </a:r>
            <a:endParaRPr sz="1300" dirty="0">
              <a:latin typeface="Google Sans Flex"/>
              <a:ea typeface="Google Sans Flex"/>
              <a:cs typeface="Google Sans Flex"/>
              <a:sym typeface="Google Sans Flex"/>
            </a:endParaRPr>
          </a:p>
          <a:p>
            <a:pPr marL="457200" lvl="0" indent="-311150" algn="l" rtl="0">
              <a:spcBef>
                <a:spcPts val="0"/>
              </a:spcBef>
              <a:spcAft>
                <a:spcPts val="0"/>
              </a:spcAft>
              <a:buSzPts val="1300"/>
              <a:buFont typeface="Google Sans Flex"/>
              <a:buChar char="●"/>
            </a:pPr>
            <a:r>
              <a:rPr lang="en-GB" sz="1300" dirty="0">
                <a:latin typeface="Google Sans Flex"/>
                <a:ea typeface="Google Sans Flex"/>
                <a:cs typeface="Google Sans Flex"/>
                <a:sym typeface="Google Sans Flex"/>
              </a:rPr>
              <a:t>USP of the proposed solution</a:t>
            </a:r>
            <a:endParaRPr sz="1300" dirty="0">
              <a:latin typeface="Google Sans Flex"/>
              <a:ea typeface="Google Sans Flex"/>
              <a:cs typeface="Google Sans Flex"/>
              <a:sym typeface="Google Sans Flex"/>
            </a:endParaRP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a:p>
            <a:pPr lvl="0"/>
            <a:r>
              <a:rPr lang="en-SG" sz="1600" b="1" dirty="0"/>
              <a:t>Different:</a:t>
            </a:r>
            <a:r>
              <a:rPr lang="en-SG" sz="1600" dirty="0"/>
              <a:t> </a:t>
            </a:r>
            <a:r>
              <a:rPr lang="en-SG" sz="1600" dirty="0">
                <a:solidFill>
                  <a:schemeClr val="accent5">
                    <a:lumMod val="75000"/>
                  </a:schemeClr>
                </a:solidFill>
              </a:rPr>
              <a:t>most AI reply tools auto-send. ECS Desk never sends on its own. It drafts, a person decides.</a:t>
            </a:r>
          </a:p>
          <a:p>
            <a:pPr lvl="0"/>
            <a:endParaRPr lang="en-SG" sz="1600" dirty="0"/>
          </a:p>
          <a:p>
            <a:pPr lvl="0"/>
            <a:r>
              <a:rPr lang="en-SG" sz="1600" b="1" dirty="0"/>
              <a:t>Solves the problem:</a:t>
            </a:r>
            <a:r>
              <a:rPr lang="en-SG" sz="1600" dirty="0"/>
              <a:t> </a:t>
            </a:r>
            <a:r>
              <a:rPr lang="en-SG" sz="1600" dirty="0">
                <a:solidFill>
                  <a:schemeClr val="accent5">
                    <a:lumMod val="75000"/>
                  </a:schemeClr>
                </a:solidFill>
              </a:rPr>
              <a:t>three specialist agents (Intake, Triage, Draft) turn a messy inbox into a sorted, ready-to-approve queue, with urgent items first.</a:t>
            </a:r>
          </a:p>
          <a:p>
            <a:pPr lvl="0"/>
            <a:endParaRPr lang="en-SG" sz="1600" dirty="0"/>
          </a:p>
          <a:p>
            <a:pPr lvl="0"/>
            <a:r>
              <a:rPr lang="en-SG" sz="1600" b="1" dirty="0"/>
              <a:t>USP:</a:t>
            </a:r>
            <a:r>
              <a:rPr lang="en-SG" sz="1600" dirty="0"/>
              <a:t> </a:t>
            </a:r>
            <a:r>
              <a:rPr lang="en-SG" sz="1600" dirty="0">
                <a:solidFill>
                  <a:schemeClr val="accent5">
                    <a:lumMod val="75000"/>
                  </a:schemeClr>
                </a:solidFill>
              </a:rPr>
              <a:t>reads text </a:t>
            </a:r>
            <a:r>
              <a:rPr lang="en-SG" sz="1600" i="1" dirty="0">
                <a:solidFill>
                  <a:schemeClr val="accent5">
                    <a:lumMod val="75000"/>
                  </a:schemeClr>
                </a:solidFill>
              </a:rPr>
              <a:t>and</a:t>
            </a:r>
            <a:r>
              <a:rPr lang="en-SG" sz="1600" dirty="0">
                <a:solidFill>
                  <a:schemeClr val="accent5">
                    <a:lumMod val="75000"/>
                  </a:schemeClr>
                </a:solidFill>
              </a:rPr>
              <a:t> images (invoices), replies in the customer’s own language (English, Chinese, Tamil, Malay), never guesses facts, and hides card, bank and ID numbers.</a:t>
            </a: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p17"/>
          <p:cNvSpPr txBox="1"/>
          <p:nvPr/>
        </p:nvSpPr>
        <p:spPr>
          <a:xfrm>
            <a:off x="328412" y="803999"/>
            <a:ext cx="7922209" cy="397123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List of features offered by the solution</a:t>
            </a:r>
          </a:p>
          <a:p>
            <a:pPr marL="0" lvl="0" indent="0" algn="l" rtl="0">
              <a:spcBef>
                <a:spcPts val="0"/>
              </a:spcBef>
              <a:spcAft>
                <a:spcPts val="0"/>
              </a:spcAft>
              <a:buNone/>
            </a:pPr>
            <a:endParaRPr lang="en-GB" sz="1600" dirty="0">
              <a:latin typeface="Google Sans Flex Medium"/>
              <a:ea typeface="Google Sans Flex Medium"/>
              <a:cs typeface="Google Sans Flex Medium"/>
              <a:sym typeface="Google Sans Flex Medium"/>
            </a:endParaRPr>
          </a:p>
          <a:p>
            <a:pPr marL="342900" lvl="0" indent="-342900">
              <a:spcBef>
                <a:spcPts val="600"/>
              </a:spcBef>
              <a:buFont typeface="+mj-lt"/>
              <a:buAutoNum type="arabicPeriod"/>
            </a:pPr>
            <a:r>
              <a:rPr lang="en-SG" sz="1600" dirty="0">
                <a:solidFill>
                  <a:schemeClr val="accent5">
                    <a:lumMod val="75000"/>
                  </a:schemeClr>
                </a:solidFill>
              </a:rPr>
              <a:t>Reads emails, chat messages and invoice photos</a:t>
            </a:r>
          </a:p>
          <a:p>
            <a:pPr marL="342900" lvl="0" indent="-342900">
              <a:spcBef>
                <a:spcPts val="600"/>
              </a:spcBef>
              <a:buFont typeface="+mj-lt"/>
              <a:buAutoNum type="arabicPeriod"/>
            </a:pPr>
            <a:r>
              <a:rPr lang="en-SG" sz="1600" dirty="0">
                <a:solidFill>
                  <a:schemeClr val="accent5">
                    <a:lumMod val="75000"/>
                  </a:schemeClr>
                </a:solidFill>
              </a:rPr>
              <a:t>Auto-sorts by category and urgency</a:t>
            </a:r>
          </a:p>
          <a:p>
            <a:pPr marL="342900" lvl="0" indent="-342900">
              <a:spcBef>
                <a:spcPts val="600"/>
              </a:spcBef>
              <a:buFont typeface="+mj-lt"/>
              <a:buAutoNum type="arabicPeriod"/>
            </a:pPr>
            <a:r>
              <a:rPr lang="en-SG" sz="1600" dirty="0">
                <a:solidFill>
                  <a:schemeClr val="accent5">
                    <a:lumMod val="75000"/>
                  </a:schemeClr>
                </a:solidFill>
              </a:rPr>
              <a:t>Drafts replies and internal payment notes</a:t>
            </a:r>
          </a:p>
          <a:p>
            <a:pPr marL="342900" lvl="0" indent="-342900">
              <a:spcBef>
                <a:spcPts val="600"/>
              </a:spcBef>
              <a:buFont typeface="+mj-lt"/>
              <a:buAutoNum type="arabicPeriod"/>
            </a:pPr>
            <a:r>
              <a:rPr lang="en-SG" sz="1600" dirty="0">
                <a:solidFill>
                  <a:schemeClr val="accent5">
                    <a:lumMod val="75000"/>
                  </a:schemeClr>
                </a:solidFill>
              </a:rPr>
              <a:t>Replies in the customer’s language</a:t>
            </a:r>
          </a:p>
          <a:p>
            <a:pPr marL="342900" lvl="0" indent="-342900">
              <a:spcBef>
                <a:spcPts val="600"/>
              </a:spcBef>
              <a:buFont typeface="+mj-lt"/>
              <a:buAutoNum type="arabicPeriod"/>
            </a:pPr>
            <a:r>
              <a:rPr lang="en-SG" sz="1600" dirty="0">
                <a:solidFill>
                  <a:schemeClr val="accent5">
                    <a:lumMod val="75000"/>
                  </a:schemeClr>
                </a:solidFill>
              </a:rPr>
              <a:t>Approval dashboard: Approve, Edit, Reject</a:t>
            </a:r>
          </a:p>
          <a:p>
            <a:pPr marL="342900" lvl="0" indent="-342900">
              <a:spcBef>
                <a:spcPts val="600"/>
              </a:spcBef>
              <a:buFont typeface="+mj-lt"/>
              <a:buAutoNum type="arabicPeriod"/>
            </a:pPr>
            <a:r>
              <a:rPr lang="en-SG" sz="1600" dirty="0">
                <a:solidFill>
                  <a:schemeClr val="accent5">
                    <a:lumMod val="75000"/>
                  </a:schemeClr>
                </a:solidFill>
              </a:rPr>
              <a:t>“What the agents saw” panel for transparency</a:t>
            </a:r>
          </a:p>
          <a:p>
            <a:pPr marL="342900" lvl="0" indent="-342900">
              <a:spcBef>
                <a:spcPts val="600"/>
              </a:spcBef>
              <a:buFont typeface="+mj-lt"/>
              <a:buAutoNum type="arabicPeriod"/>
            </a:pPr>
            <a:r>
              <a:rPr lang="en-SG" sz="1600" dirty="0">
                <a:solidFill>
                  <a:schemeClr val="accent5">
                    <a:lumMod val="75000"/>
                  </a:schemeClr>
                </a:solidFill>
              </a:rPr>
              <a:t>Safety rules: no prices, refunds or bookings promised; sensitive numbers hidden</a:t>
            </a:r>
          </a:p>
          <a:p>
            <a:pPr marL="0" lvl="0" indent="0" algn="l" rtl="0">
              <a:spcBef>
                <a:spcPts val="0"/>
              </a:spcBef>
              <a:spcAft>
                <a:spcPts val="0"/>
              </a:spcAft>
              <a:buNone/>
            </a:pPr>
            <a:endParaRPr sz="1600" dirty="0">
              <a:latin typeface="Google Sans Flex Medium"/>
              <a:ea typeface="Google Sans Flex Medium"/>
              <a:cs typeface="Google Sans Flex Medium"/>
              <a:sym typeface="Google Sans Flex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8"/>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pic>
        <p:nvPicPr>
          <p:cNvPr id="601" name="ECS Desk process flow" descr="ECS Desk process flow"/>
          <p:cNvPicPr preferRelativeResize="0"/>
          <p:nvPr/>
        </p:nvPicPr>
        <p:blipFill>
          <a:blip r:embed="rId5">
            <a:alphaModFix/>
          </a:blip>
          <a:stretch>
            <a:fillRect/>
          </a:stretch>
        </p:blipFill>
        <p:spPr>
          <a:xfrm>
            <a:off x="372000" y="1392295"/>
            <a:ext cx="8400000" cy="2226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19"/>
          <p:cNvSpPr txBox="1"/>
          <p:nvPr/>
        </p:nvSpPr>
        <p:spPr>
          <a:xfrm>
            <a:off x="265350" y="663825"/>
            <a:ext cx="8693020" cy="9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Replies in your customer’s language</a:t>
            </a:r>
            <a:endParaRPr sz="1600" dirty="0">
              <a:latin typeface="Google Sans Flex Medium"/>
              <a:ea typeface="Google Sans Flex Medium"/>
              <a:cs typeface="Google Sans Flex Medium"/>
              <a:sym typeface="Google Sans Flex Medium"/>
            </a:endParaRPr>
          </a:p>
          <a:p>
            <a:pPr lvl="0"/>
            <a:r>
              <a:rPr lang="en-SG" sz="1200" dirty="0">
                <a:solidFill>
                  <a:schemeClr val="accent5">
                    <a:lumMod val="75000"/>
                  </a:schemeClr>
                </a:solidFill>
              </a:rPr>
              <a:t>Priya wrote in Tamil about a birthday cake that arrived late with the wrong name on it. Triage marked it a complaint, high urgency. The agent replied in Tamil. The English on the right is a translation for this slide only — the customer receives the Tamil.</a:t>
            </a:r>
          </a:p>
        </p:txBody>
      </p:sp>
      <p:sp>
        <p:nvSpPr>
          <p:cNvPr id="913" name="Tamil reply"/>
          <p:cNvSpPr txBox="1"/>
          <p:nvPr/>
        </p:nvSpPr>
        <p:spPr>
          <a:xfrm>
            <a:off x="265350" y="2050000"/>
            <a:ext cx="4200000" cy="2700000"/>
          </a:xfrm>
          <a:prstGeom prst="rect">
            <a:avLst/>
          </a:prstGeom>
          <a:noFill/>
          <a:ln>
            <a:noFill/>
          </a:ln>
        </p:spPr>
        <p:txBody>
          <a:bodyPr spcFirstLastPara="1" wrap="square" lIns="91425" tIns="91425" rIns="91425" bIns="91425" anchor="t" anchorCtr="0">
            <a:noAutofit/>
          </a:bodyPr>
          <a:lstStyle/>
          <a:p>
            <a:pPr lvl="0"/>
            <a:r>
              <a:rPr lang="en-SG" sz="1100" b="1" dirty="0">
                <a:solidFill>
                  <a:schemeClr val="accent5">
                    <a:lumMod val="75000"/>
                  </a:schemeClr>
                </a:solidFill>
              </a:rPr>
              <a:t>What the customer receives (Tamil)</a:t>
            </a:r>
          </a:p>
          <a:p>
            <a:pPr lvl="0"/>
            <a:endParaRPr lang="en-SG" sz="1200" dirty="0"/>
          </a:p>
          <a:p>
            <a:pPr lvl="0"/>
            <a:r>
              <a:rPr lang="en-SG" sz="1100" dirty="0">
                <a:solidFill>
                  <a:schemeClr val="accent5">
                    <a:lumMod val="75000"/>
                  </a:schemeClr>
                </a:solidFill>
                <a:latin typeface="Nirmala UI"/>
                <a:cs typeface="Nirmala UI"/>
              </a:rPr>
              <a:t>வணக்கம் பிரியா,</a:t>
            </a:r>
          </a:p>
          <a:p>
            <a:pPr lvl="0"/>
            <a:r>
              <a:rPr lang="en-SG" sz="1100" dirty="0">
                <a:solidFill>
                  <a:schemeClr val="accent5">
                    <a:lumMod val="75000"/>
                  </a:schemeClr>
                </a:solidFill>
                <a:latin typeface="Nirmala UI"/>
                <a:cs typeface="Nirmala UI"/>
              </a:rPr>
              <a:t>உங்கள் மகளின் பிறந்தநாள் கேக் தாமதமாக வந்தததற்கும், அதில் தவறான பெயர் எழுதப்பட்டிருந்ததற்கும் நாங்கள் மனதார மன்னிப்பு கேட்டுக்கொள்கிறோம்.</a:t>
            </a:r>
          </a:p>
          <a:p>
            <a:pPr lvl="0"/>
            <a:endParaRPr lang="en-SG" sz="1200" dirty="0"/>
          </a:p>
          <a:p>
            <a:pPr lvl="0"/>
            <a:r>
              <a:rPr lang="en-SG" sz="1100" dirty="0">
                <a:solidFill>
                  <a:schemeClr val="accent5">
                    <a:lumMod val="75000"/>
                  </a:schemeClr>
                </a:solidFill>
                <a:latin typeface="Nirmala UI"/>
                <a:cs typeface="Nirmala UI"/>
              </a:rPr>
              <a:t>எங்கள் உரிமையாளர் இது குறித்து நேரடியாக விசாரித்து வருகிறார்.</a:t>
            </a:r>
          </a:p>
        </p:txBody>
      </p:sp>
      <p:sp>
        <p:nvSpPr>
          <p:cNvPr id="914" name="English translation"/>
          <p:cNvSpPr txBox="1"/>
          <p:nvPr/>
        </p:nvSpPr>
        <p:spPr>
          <a:xfrm>
            <a:off x="4705350" y="2050000"/>
            <a:ext cx="4200000" cy="2700000"/>
          </a:xfrm>
          <a:prstGeom prst="rect">
            <a:avLst/>
          </a:prstGeom>
          <a:noFill/>
          <a:ln>
            <a:noFill/>
          </a:ln>
        </p:spPr>
        <p:txBody>
          <a:bodyPr spcFirstLastPara="1" wrap="square" lIns="91425" tIns="91425" rIns="91425" bIns="91425" anchor="t" anchorCtr="0">
            <a:noAutofit/>
          </a:bodyPr>
          <a:lstStyle/>
          <a:p>
            <a:pPr lvl="0"/>
            <a:r>
              <a:rPr lang="en-SG" sz="1100" b="1" dirty="0">
                <a:solidFill>
                  <a:schemeClr val="accent5">
                    <a:lumMod val="75000"/>
                  </a:schemeClr>
                </a:solidFill>
              </a:rPr>
              <a:t>What it says (English)</a:t>
            </a:r>
          </a:p>
          <a:p>
            <a:pPr lvl="0"/>
            <a:endParaRPr lang="en-SG" sz="1200"/>
          </a:p>
          <a:p>
            <a:pPr lvl="0"/>
            <a:r>
              <a:rPr lang="en-SG" sz="1100" dirty="0">
                <a:solidFill>
                  <a:schemeClr val="accent5">
                    <a:lumMod val="75000"/>
                  </a:schemeClr>
                </a:solidFill>
              </a:rPr>
              <a:t>Hello Priya,</a:t>
            </a:r>
          </a:p>
          <a:p>
            <a:pPr lvl="0"/>
            <a:r>
              <a:rPr lang="en-SG" sz="1100" dirty="0">
                <a:solidFill>
                  <a:schemeClr val="accent5">
                    <a:lumMod val="75000"/>
                  </a:schemeClr>
                </a:solidFill>
              </a:rPr>
              <a:t>We sincerely apologise that your daughter’s birthday cake arrived late and that the wrong name was written on it. We are very sorry for the inconvenience this caused you.</a:t>
            </a:r>
          </a:p>
          <a:p>
            <a:pPr lvl="0"/>
            <a:endParaRPr lang="en-SG" sz="1200"/>
          </a:p>
          <a:p>
            <a:pPr lvl="0"/>
            <a:r>
              <a:rPr lang="en-SG" sz="1100" dirty="0">
                <a:solidFill>
                  <a:schemeClr val="accent5">
                    <a:lumMod val="75000"/>
                  </a:schemeClr>
                </a:solidFill>
              </a:rPr>
              <a:t>Our owner is looking into this personally.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p20"/>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pic>
        <p:nvPicPr>
          <p:cNvPr id="112" name="ECS Desk architecture" descr="ecs_desk_architecture_v3.png"/>
          <p:cNvPicPr>
            <a:picLocks noChangeAspect="1"/>
          </p:cNvPicPr>
          <p:nvPr/>
        </p:nvPicPr>
        <p:blipFill>
          <a:blip r:embed="rId6"/>
          <a:stretch>
            <a:fillRect/>
          </a:stretch>
        </p:blipFill>
        <p:spPr>
          <a:xfrm>
            <a:off x="372000" y="1118742"/>
            <a:ext cx="8400000" cy="3549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21"/>
          <p:cNvSpPr txBox="1"/>
          <p:nvPr/>
        </p:nvSpPr>
        <p:spPr>
          <a:xfrm>
            <a:off x="265350" y="663824"/>
            <a:ext cx="8943000" cy="359286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Technologies to be used in the solution</a:t>
            </a:r>
          </a:p>
          <a:p>
            <a:pPr marL="0" lvl="0" indent="0" algn="l" rtl="0">
              <a:spcBef>
                <a:spcPts val="0"/>
              </a:spcBef>
              <a:spcAft>
                <a:spcPts val="0"/>
              </a:spcAft>
              <a:buNone/>
            </a:pPr>
            <a:endParaRPr lang="en-GB" sz="1600" dirty="0">
              <a:latin typeface="Google Sans Flex Medium"/>
              <a:ea typeface="Google Sans Flex Medium"/>
              <a:cs typeface="Google Sans Flex Medium"/>
              <a:sym typeface="Google Sans Flex Medium"/>
            </a:endParaRP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Google ADK</a:t>
            </a:r>
            <a:r>
              <a:rPr lang="en-SG" sz="1400" dirty="0">
                <a:solidFill>
                  <a:schemeClr val="accent5">
                    <a:lumMod val="75000"/>
                  </a:schemeClr>
                </a:solidFill>
              </a:rPr>
              <a:t> — three agents chained as a SequentialAgent</a:t>
            </a: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Gemini 3.6 Flash</a:t>
            </a:r>
            <a:r>
              <a:rPr lang="en-SG" sz="1400" dirty="0">
                <a:solidFill>
                  <a:schemeClr val="accent5">
                    <a:lumMod val="75000"/>
                  </a:schemeClr>
                </a:solidFill>
              </a:rPr>
              <a:t> — text and image understanding, multilingual</a:t>
            </a: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Cloud Run</a:t>
            </a:r>
            <a:r>
              <a:rPr lang="en-SG" sz="1400" dirty="0">
                <a:solidFill>
                  <a:schemeClr val="accent5">
                    <a:lumMod val="75000"/>
                  </a:schemeClr>
                </a:solidFill>
              </a:rPr>
              <a:t> — agents, API and dashboard in one service, scaling to zero</a:t>
            </a: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Firestore</a:t>
            </a:r>
            <a:r>
              <a:rPr lang="en-SG" sz="1400" dirty="0">
                <a:solidFill>
                  <a:schemeClr val="accent5">
                    <a:lumMod val="75000"/>
                  </a:schemeClr>
                </a:solidFill>
              </a:rPr>
              <a:t> — the approval queue, owner-bound with default-deny rules</a:t>
            </a: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Secret Manager</a:t>
            </a:r>
            <a:r>
              <a:rPr lang="en-SG" sz="1400" dirty="0">
                <a:solidFill>
                  <a:schemeClr val="accent5">
                    <a:lumMod val="75000"/>
                  </a:schemeClr>
                </a:solidFill>
              </a:rPr>
              <a:t> — the Gemini API key, injected at run time</a:t>
            </a: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Cloud Build</a:t>
            </a:r>
            <a:r>
              <a:rPr lang="en-SG" sz="1400" dirty="0">
                <a:solidFill>
                  <a:schemeClr val="accent5">
                    <a:lumMod val="75000"/>
                  </a:schemeClr>
                </a:solidFill>
              </a:rPr>
              <a:t> — container builds straight from source</a:t>
            </a: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Python and FastAPI</a:t>
            </a:r>
            <a:r>
              <a:rPr lang="en-SG" sz="1400" dirty="0">
                <a:solidFill>
                  <a:schemeClr val="accent5">
                    <a:lumMod val="75000"/>
                  </a:schemeClr>
                </a:solidFill>
              </a:rPr>
              <a:t> — the web layer</a:t>
            </a: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GitHub</a:t>
            </a:r>
            <a:r>
              <a:rPr lang="en-SG" sz="1400" dirty="0">
                <a:solidFill>
                  <a:schemeClr val="accent5">
                    <a:lumMod val="75000"/>
                  </a:schemeClr>
                </a:solidFill>
              </a:rPr>
              <a:t> — public repository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Google Shape;127;p22"/>
          <p:cNvSpPr txBox="1"/>
          <p:nvPr/>
        </p:nvSpPr>
        <p:spPr>
          <a:xfrm>
            <a:off x="265350" y="663825"/>
            <a:ext cx="8734271" cy="41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Estimated implementation cost (optional)</a:t>
            </a:r>
            <a:endParaRPr sz="1600" dirty="0">
              <a:latin typeface="Google Sans Flex Medium"/>
              <a:ea typeface="Google Sans Flex Medium"/>
              <a:cs typeface="Google Sans Flex Medium"/>
              <a:sym typeface="Google Sans Flex Medium"/>
            </a:endParaRPr>
          </a:p>
          <a:p>
            <a:pPr lvl="0"/>
            <a:r>
              <a:rPr lang="en-SG" sz="1200" dirty="0">
                <a:solidFill>
                  <a:schemeClr val="accent5">
                    <a:lumMod val="75000"/>
                  </a:schemeClr>
                </a:solidFill>
              </a:rPr>
              <a:t>Infrastructure sits inside Google Cloud free tiers at small-business volume. The only cost that scales with use is Gemini tokens.</a:t>
            </a:r>
          </a:p>
          <a:p>
            <a:pPr lvl="0"/>
            <a:endParaRPr lang="en-SG" sz="1200" dirty="0"/>
          </a:p>
          <a:p>
            <a:pPr lvl="0"/>
            <a:r>
              <a:rPr lang="en-SG" sz="1200" dirty="0">
                <a:solidFill>
                  <a:schemeClr val="accent5">
                    <a:lumMod val="75000"/>
                  </a:schemeClr>
                </a:solidFill>
              </a:rPr>
              <a:t>Not estimated — measured. The service records the tokens the API billed for every message. Across the 17-case evaluation: 5,487 input and 2,108 output tokens per message, over four model calls (three agents, plus the Draft agent’s tool round-trip). Output includes thinking tokens, billed at the output rate. A text message costs 4,639 / 1,987; one carrying an invoice photo, 9,447 / 2,670.</a:t>
            </a:r>
          </a:p>
          <a:p>
            <a:pPr lvl="0"/>
            <a:endParaRPr lang="en-SG" sz="1200" dirty="0"/>
          </a:p>
          <a:p>
            <a:pPr lvl="0"/>
            <a:r>
              <a:rPr lang="en-SG" sz="1200" dirty="0">
                <a:solidFill>
                  <a:schemeClr val="accent5">
                    <a:lumMod val="75000"/>
                  </a:schemeClr>
                </a:solidFill>
              </a:rPr>
              <a:t>Gemini 3.6 Flash is US$0.75 per million input tokens and US$3.75 per million output, through 31 December 2026. Both rates double on 1 January 2027.</a:t>
            </a:r>
          </a:p>
          <a:p>
            <a:pPr lvl="0"/>
            <a:endParaRPr lang="en-SG" sz="1200" dirty="0"/>
          </a:p>
          <a:p>
            <a:pPr lvl="0"/>
            <a:r>
              <a:rPr lang="en-SG" sz="1300" b="1" dirty="0">
                <a:solidFill>
                  <a:schemeClr val="accent5">
                    <a:lumMod val="75000"/>
                  </a:schemeClr>
                </a:solidFill>
              </a:rPr>
              <a:t>That is US$0.012 per message — just over one cent.</a:t>
            </a:r>
          </a:p>
          <a:p>
            <a:pPr marL="400050" lvl="0" indent="-317500" algn="l" rtl="0">
              <a:spcBef>
                <a:spcPts val="0"/>
              </a:spcBef>
              <a:spcAft>
                <a:spcPts val="400"/>
              </a:spcAft>
              <a:buSzPts val="1100"/>
              <a:buFont typeface="Google Sans Flex Medium"/>
              <a:buChar char="●"/>
            </a:pPr>
            <a:r>
              <a:rPr lang="en-SG" sz="1200" b="1" dirty="0">
                <a:solidFill>
                  <a:schemeClr val="accent5">
                    <a:lumMod val="75000"/>
                  </a:schemeClr>
                </a:solidFill>
              </a:rPr>
              <a:t>200 messages a month</a:t>
            </a:r>
            <a:r>
              <a:rPr lang="en-SG" sz="1200" dirty="0">
                <a:solidFill>
                  <a:schemeClr val="accent5">
                    <a:lumMod val="75000"/>
                  </a:schemeClr>
                </a:solidFill>
              </a:rPr>
              <a:t>  ≈ US$2.40   (US$4.81 from January 2027)</a:t>
            </a:r>
          </a:p>
          <a:p>
            <a:pPr marL="400050" lvl="0" indent="-317500" algn="l" rtl="0">
              <a:spcBef>
                <a:spcPts val="0"/>
              </a:spcBef>
              <a:spcAft>
                <a:spcPts val="400"/>
              </a:spcAft>
              <a:buSzPts val="1100"/>
              <a:buFont typeface="Google Sans Flex Medium"/>
              <a:buChar char="●"/>
            </a:pPr>
            <a:r>
              <a:rPr lang="en-SG" sz="1200" b="1" dirty="0">
                <a:solidFill>
                  <a:schemeClr val="accent5">
                    <a:lumMod val="75000"/>
                  </a:schemeClr>
                </a:solidFill>
              </a:rPr>
              <a:t>1,000 messages a month</a:t>
            </a:r>
            <a:r>
              <a:rPr lang="en-SG" sz="1200" dirty="0">
                <a:solidFill>
                  <a:schemeClr val="accent5">
                    <a:lumMod val="75000"/>
                  </a:schemeClr>
                </a:solidFill>
              </a:rPr>
              <a:t>  ≈ US$12.02  (US$24.04 from January 2027)</a:t>
            </a:r>
          </a:p>
          <a:p>
            <a:pPr lvl="0"/>
            <a:endParaRPr lang="en-SG" sz="1200" dirty="0"/>
          </a:p>
          <a:p>
            <a:pPr marL="400050" lvl="0" indent="-317500" algn="l" rtl="0">
              <a:spcBef>
                <a:spcPts val="0"/>
              </a:spcBef>
              <a:spcAft>
                <a:spcPts val="400"/>
              </a:spcAft>
              <a:buSzPts val="1100"/>
              <a:buFont typeface="Google Sans Flex Medium"/>
              <a:buChar char="●"/>
            </a:pPr>
            <a:r>
              <a:rPr lang="en-SG" sz="1200" b="1" dirty="0">
                <a:solidFill>
                  <a:schemeClr val="accent5">
                    <a:lumMod val="75000"/>
                  </a:schemeClr>
                </a:solidFill>
              </a:rPr>
              <a:t>Cloud Run</a:t>
            </a:r>
            <a:r>
              <a:rPr lang="en-SG" sz="1200" dirty="0">
                <a:solidFill>
                  <a:schemeClr val="accent5">
                    <a:lumMod val="75000"/>
                  </a:schemeClr>
                </a:solidFill>
              </a:rPr>
              <a:t> — 180,000 vCPU-seconds free monthly; scales to zero, so an idle desk costs nothing.</a:t>
            </a:r>
          </a:p>
          <a:p>
            <a:pPr marL="400050" lvl="0" indent="-317500" algn="l" rtl="0">
              <a:spcBef>
                <a:spcPts val="0"/>
              </a:spcBef>
              <a:spcAft>
                <a:spcPts val="400"/>
              </a:spcAft>
              <a:buSzPts val="1100"/>
              <a:buFont typeface="Google Sans Flex Medium"/>
              <a:buChar char="●"/>
            </a:pPr>
            <a:r>
              <a:rPr lang="en-SG" sz="1200" b="1" dirty="0">
                <a:solidFill>
                  <a:schemeClr val="accent5">
                    <a:lumMod val="75000"/>
                  </a:schemeClr>
                </a:solidFill>
              </a:rPr>
              <a:t>Firestore</a:t>
            </a:r>
            <a:r>
              <a:rPr lang="en-SG" sz="1200" dirty="0">
                <a:solidFill>
                  <a:schemeClr val="accent5">
                    <a:lumMod val="75000"/>
                  </a:schemeClr>
                </a:solidFill>
              </a:rPr>
              <a:t> — 20,000 writes and 50,000 reads free per day; a message uses three to five writes.</a:t>
            </a:r>
          </a:p>
          <a:p>
            <a:pPr marL="400050" lvl="0" indent="-317500" algn="l" rtl="0">
              <a:spcBef>
                <a:spcPts val="0"/>
              </a:spcBef>
              <a:spcAft>
                <a:spcPts val="400"/>
              </a:spcAft>
              <a:buSzPts val="1100"/>
              <a:buFont typeface="Google Sans Flex Medium"/>
              <a:buChar char="●"/>
            </a:pPr>
            <a:r>
              <a:rPr lang="en-SG" sz="1200" b="1" dirty="0">
                <a:solidFill>
                  <a:schemeClr val="accent5">
                    <a:lumMod val="75000"/>
                  </a:schemeClr>
                </a:solidFill>
              </a:rPr>
              <a:t>Secret Manager, Cloud Build, Artifact Registry</a:t>
            </a:r>
            <a:r>
              <a:rPr lang="en-SG" sz="1200" dirty="0">
                <a:solidFill>
                  <a:schemeClr val="accent5">
                    <a:lumMod val="75000"/>
                  </a:schemeClr>
                </a:solidFill>
              </a:rPr>
              <a:t> — inside their free allowances at this volume.</a:t>
            </a:r>
          </a:p>
          <a:p>
            <a:pPr lvl="0"/>
            <a:endParaRPr lang="en-SG" sz="1200" dirty="0"/>
          </a:p>
          <a:p>
            <a:pPr lvl="0"/>
            <a:r>
              <a:rPr lang="en-SG" sz="1000" dirty="0">
                <a:solidFill>
                  <a:schemeClr val="accent5">
                    <a:lumMod val="75000"/>
                  </a:schemeClr>
                </a:solidFill>
              </a:rPr>
              <a:t>Tokens measured on the live service and rates taken from Google Cloud published pricing, 15 October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400" y="5057437"/>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Google Shape;135;p23"/>
          <p:cNvSpPr txBox="1"/>
          <p:nvPr/>
        </p:nvSpPr>
        <p:spPr>
          <a:xfrm>
            <a:off x="265350" y="663825"/>
            <a:ext cx="8943000" cy="9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Snapshots of the prototype</a:t>
            </a:r>
            <a:endParaRPr sz="1600" dirty="0">
              <a:latin typeface="Google Sans Flex Medium"/>
              <a:ea typeface="Google Sans Flex Medium"/>
              <a:cs typeface="Google Sans Flex Medium"/>
              <a:sym typeface="Google Sans Flex Medium"/>
            </a:endParaRPr>
          </a:p>
          <a:p>
            <a:pPr lvl="0"/>
            <a:r>
              <a:rPr lang="en-SG" sz="1200" dirty="0">
                <a:solidFill>
                  <a:schemeClr val="accent5">
                    <a:lumMod val="75000"/>
                  </a:schemeClr>
                </a:solidFill>
              </a:rPr>
              <a:t>The live service.</a:t>
            </a:r>
          </a:p>
        </p:txBody>
      </p:sp>
      <p:pic>
        <p:nvPicPr>
          <p:cNvPr id="911" name="Tamil draft awaiting approval" descr="Tamil draft awaiting approval"/>
          <p:cNvPicPr preferRelativeResize="0"/>
          <p:nvPr/>
        </p:nvPicPr>
        <p:blipFill>
          <a:blip r:embed="rId5">
            <a:alphaModFix/>
          </a:blip>
          <a:stretch>
            <a:fillRect/>
          </a:stretch>
        </p:blipFill>
        <p:spPr>
          <a:xfrm>
            <a:off x="265350" y="1395000"/>
            <a:ext cx="4206650" cy="2892072"/>
          </a:xfrm>
          <a:prstGeom prst="rect">
            <a:avLst/>
          </a:prstGeom>
          <a:noFill/>
          <a:ln>
            <a:noFill/>
          </a:ln>
        </p:spPr>
      </p:pic>
      <p:pic>
        <p:nvPicPr>
          <p:cNvPr id="912" name="Invoice read from a photo" descr="Invoice read from a photo"/>
          <p:cNvPicPr preferRelativeResize="0"/>
          <p:nvPr/>
        </p:nvPicPr>
        <p:blipFill>
          <a:blip r:embed="rId6">
            <a:alphaModFix/>
          </a:blip>
          <a:stretch>
            <a:fillRect/>
          </a:stretch>
        </p:blipFill>
        <p:spPr>
          <a:xfrm>
            <a:off x="4672000" y="1395000"/>
            <a:ext cx="4206650" cy="2892072"/>
          </a:xfrm>
          <a:prstGeom prst="rect">
            <a:avLst/>
          </a:prstGeom>
          <a:noFill/>
          <a:ln>
            <a:noFill/>
          </a:ln>
        </p:spPr>
      </p:pic>
      <p:sp>
        <p:nvSpPr>
          <p:cNvPr id="3" name="Text Placeholder 2">
            <a:extLst>
              <a:ext uri="{FF2B5EF4-FFF2-40B4-BE49-F238E27FC236}">
                <a16:creationId xmlns:a16="http://schemas.microsoft.com/office/drawing/2014/main" id="{C87A1552-FF1D-5926-9DC0-1D071ACFAE55}"/>
              </a:ext>
            </a:extLst>
          </p:cNvPr>
          <p:cNvSpPr>
            <a:spLocks noGrp="1"/>
          </p:cNvSpPr>
          <p:nvPr>
            <p:ph type="body" idx="1"/>
          </p:nvPr>
        </p:nvSpPr>
        <p:spPr>
          <a:xfrm>
            <a:off x="219000" y="4290121"/>
            <a:ext cx="4253000" cy="601892"/>
          </a:xfrm>
        </p:spPr>
        <p:txBody>
          <a:bodyPr>
            <a:normAutofit/>
          </a:bodyPr>
          <a:lstStyle/>
          <a:p>
            <a:pPr marL="139700" indent="0">
              <a:buNone/>
            </a:pPr>
            <a:r>
              <a:rPr lang="en-SG" sz="1100" dirty="0">
                <a:solidFill>
                  <a:schemeClr val="accent5">
                    <a:lumMod val="75000"/>
                  </a:schemeClr>
                </a:solidFill>
              </a:rPr>
              <a:t>A Tamil complaint, replied to in Tamil, waiting for approval</a:t>
            </a:r>
            <a:endParaRPr lang="en-SG" sz="1100" dirty="0"/>
          </a:p>
        </p:txBody>
      </p:sp>
      <p:sp>
        <p:nvSpPr>
          <p:cNvPr id="4" name="Text Placeholder 3">
            <a:extLst>
              <a:ext uri="{FF2B5EF4-FFF2-40B4-BE49-F238E27FC236}">
                <a16:creationId xmlns:a16="http://schemas.microsoft.com/office/drawing/2014/main" id="{3D7A08FC-5F79-696C-0D4C-FA9C3ECB1B30}"/>
              </a:ext>
            </a:extLst>
          </p:cNvPr>
          <p:cNvSpPr>
            <a:spLocks noGrp="1"/>
          </p:cNvSpPr>
          <p:nvPr>
            <p:ph type="body" idx="2"/>
          </p:nvPr>
        </p:nvSpPr>
        <p:spPr>
          <a:xfrm>
            <a:off x="4672000" y="4290121"/>
            <a:ext cx="4206650" cy="601892"/>
          </a:xfrm>
        </p:spPr>
        <p:txBody>
          <a:bodyPr>
            <a:normAutofit fontScale="77500" lnSpcReduction="20000"/>
          </a:bodyPr>
          <a:lstStyle/>
          <a:p>
            <a:pPr marL="139700" indent="0">
              <a:buNone/>
            </a:pPr>
            <a:r>
              <a:rPr lang="en-SG" dirty="0">
                <a:solidFill>
                  <a:schemeClr val="accent5">
                    <a:lumMod val="75000"/>
                  </a:schemeClr>
                </a:solidFill>
              </a:rPr>
              <a:t>A supplier invoice read from a photo, turned into an internal payment note. Nothing is sent until a person clicks Approve.</a:t>
            </a:r>
            <a:endParaRPr lang="en-SG"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24"/>
          <p:cNvSpPr txBox="1"/>
          <p:nvPr/>
        </p:nvSpPr>
        <p:spPr>
          <a:xfrm>
            <a:off x="265350" y="663825"/>
            <a:ext cx="8514265" cy="359286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Prototype Performance report/Benchmarking</a:t>
            </a:r>
            <a:endParaRPr sz="1600" dirty="0">
              <a:latin typeface="Google Sans Flex Medium"/>
              <a:ea typeface="Google Sans Flex Medium"/>
              <a:cs typeface="Google Sans Flex Medium"/>
              <a:sym typeface="Google Sans Flex Medium"/>
            </a:endParaRPr>
          </a:p>
          <a:p>
            <a:pPr lvl="0"/>
            <a:endParaRPr lang="en-SG" sz="1400" dirty="0"/>
          </a:p>
          <a:p>
            <a:pPr lvl="0"/>
            <a:r>
              <a:rPr lang="en-SG" sz="1400" dirty="0">
                <a:solidFill>
                  <a:schemeClr val="accent5">
                    <a:lumMod val="75000"/>
                  </a:schemeClr>
                </a:solidFill>
              </a:rPr>
              <a:t>17 test messages run against the live Cloud Run service: 15 core cases (5 complaints, 5 quotes/bookings, 5 invoices and other) plus 2 safety cases.</a:t>
            </a:r>
          </a:p>
          <a:p>
            <a:pPr lvl="0"/>
            <a:endParaRPr lang="en-SG" sz="1400" dirty="0"/>
          </a:p>
          <a:p>
            <a:pPr lvl="0"/>
            <a:r>
              <a:rPr lang="en-SG" sz="1400" b="1" dirty="0">
                <a:solidFill>
                  <a:schemeClr val="accent5">
                    <a:lumMod val="75000"/>
                  </a:schemeClr>
                </a:solidFill>
              </a:rPr>
              <a:t>Correct category  15/15        Correct urgency  15/15</a:t>
            </a:r>
          </a:p>
          <a:p>
            <a:pPr lvl="0"/>
            <a:r>
              <a:rPr lang="en-SG" sz="1400" b="1" dirty="0">
                <a:solidFill>
                  <a:schemeClr val="accent5">
                    <a:lumMod val="75000"/>
                  </a:schemeClr>
                </a:solidFill>
              </a:rPr>
              <a:t>Right language  14/14        No promise, leak or made-up fact  15/15</a:t>
            </a:r>
          </a:p>
          <a:p>
            <a:pPr lvl="0"/>
            <a:endParaRPr lang="en-SG" sz="1400" dirty="0"/>
          </a:p>
          <a:p>
            <a:pPr lvl="0"/>
            <a:r>
              <a:rPr lang="en-SG" sz="1400" dirty="0">
                <a:solidFill>
                  <a:schemeClr val="accent5">
                    <a:lumMod val="75000"/>
                  </a:schemeClr>
                </a:solidFill>
              </a:rPr>
              <a:t>By language:  Chinese 2/2  ·  Malay 2/2  ·  Singlish 2/2  ·  Tamil 2/2  ·  English 7/7</a:t>
            </a:r>
          </a:p>
          <a:p>
            <a:pPr lvl="0"/>
            <a:endParaRPr lang="en-SG" sz="1400" dirty="0"/>
          </a:p>
          <a:p>
            <a:pPr lvl="0"/>
            <a:r>
              <a:rPr lang="en-SG" sz="1400" dirty="0">
                <a:solidFill>
                  <a:schemeClr val="accent5">
                    <a:lumMod val="75000"/>
                  </a:schemeClr>
                </a:solidFill>
              </a:rPr>
              <a:t>Safety cases all passed: card, bank and NRIC numbers hidden in both pasted text and invoice photos; a message instructing the agent to send immediately was queued for approval, not obeyed; a customer asserting a 20% discount and a booked slot was granted neither.</a:t>
            </a:r>
          </a:p>
          <a:p>
            <a:pPr lvl="0"/>
            <a:endParaRPr lang="en-SG"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5"/>
          <p:cNvSpPr txBox="1"/>
          <p:nvPr/>
        </p:nvSpPr>
        <p:spPr>
          <a:xfrm>
            <a:off x="265350" y="663825"/>
            <a:ext cx="8943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Google Sans Flex Medium"/>
                <a:ea typeface="Google Sans Flex Medium"/>
                <a:cs typeface="Google Sans Flex Medium"/>
                <a:sym typeface="Google Sans Flex Medium"/>
              </a:rPr>
              <a:t>Additional Details/Future Development (if any)</a:t>
            </a:r>
          </a:p>
          <a:p>
            <a:pPr marL="0" lvl="0" indent="0" algn="l" rtl="0">
              <a:spcBef>
                <a:spcPts val="0"/>
              </a:spcBef>
              <a:spcAft>
                <a:spcPts val="0"/>
              </a:spcAft>
              <a:buNone/>
            </a:pPr>
            <a:endParaRPr lang="en-GB" sz="1600" dirty="0">
              <a:latin typeface="Google Sans Flex Medium"/>
              <a:ea typeface="Google Sans Flex Medium"/>
              <a:cs typeface="Google Sans Flex Medium"/>
              <a:sym typeface="Google Sans Flex Medium"/>
            </a:endParaRPr>
          </a:p>
          <a:p>
            <a:pPr marL="0" lvl="0" indent="0" algn="l" rtl="0">
              <a:spcBef>
                <a:spcPts val="0"/>
              </a:spcBef>
              <a:spcAft>
                <a:spcPts val="0"/>
              </a:spcAft>
              <a:buNone/>
            </a:pPr>
            <a:endParaRPr lang="en-GB" sz="1600" dirty="0">
              <a:solidFill>
                <a:schemeClr val="accent5">
                  <a:lumMod val="75000"/>
                </a:schemeClr>
              </a:solidFill>
              <a:latin typeface="Google Sans Flex Medium"/>
              <a:ea typeface="Google Sans Flex Medium"/>
              <a:cs typeface="Google Sans Flex Medium"/>
              <a:sym typeface="Google Sans Flex Medium"/>
            </a:endParaRP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Gmail and WhatsApp Business</a:t>
            </a:r>
            <a:r>
              <a:rPr lang="en-SG" sz="1400" dirty="0">
                <a:solidFill>
                  <a:schemeClr val="accent5">
                    <a:lumMod val="75000"/>
                  </a:schemeClr>
                </a:solidFill>
              </a:rPr>
              <a:t> — connect the inboxes directly, so messages arrive without pasting</a:t>
            </a: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Business knowledge base</a:t>
            </a:r>
            <a:r>
              <a:rPr lang="en-SG" sz="1400" dirty="0">
                <a:solidFill>
                  <a:schemeClr val="accent5">
                    <a:lumMod val="75000"/>
                  </a:schemeClr>
                </a:solidFill>
              </a:rPr>
              <a:t> — grounded answers on hours, services and policies</a:t>
            </a: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Customer history in Firestore</a:t>
            </a:r>
            <a:r>
              <a:rPr lang="en-SG" sz="1400" dirty="0">
                <a:solidFill>
                  <a:schemeClr val="accent5">
                    <a:lumMod val="75000"/>
                  </a:schemeClr>
                </a:solidFill>
              </a:rPr>
              <a:t> — flag the people who have complained before</a:t>
            </a:r>
          </a:p>
          <a:p>
            <a:pPr marL="457200" lvl="0" indent="-317500" algn="l" rtl="0">
              <a:spcBef>
                <a:spcPts val="0"/>
              </a:spcBef>
              <a:spcAft>
                <a:spcPts val="700"/>
              </a:spcAft>
              <a:buSzPts val="1300"/>
              <a:buFont typeface="Google Sans Flex Medium"/>
              <a:buChar char="●"/>
            </a:pPr>
            <a:r>
              <a:rPr lang="en-SG" sz="1400" b="1" dirty="0">
                <a:solidFill>
                  <a:schemeClr val="accent5">
                    <a:lumMod val="75000"/>
                  </a:schemeClr>
                </a:solidFill>
              </a:rPr>
              <a:t>Weekly BigQuery insights</a:t>
            </a:r>
            <a:r>
              <a:rPr lang="en-SG" sz="1400" dirty="0">
                <a:solidFill>
                  <a:schemeClr val="accent5">
                    <a:lumMod val="75000"/>
                  </a:schemeClr>
                </a:solidFill>
              </a:rPr>
              <a:t> — “70% of complaints are about delivery”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Google Shape;159;p26"/>
          <p:cNvSpPr txBox="1"/>
          <p:nvPr/>
        </p:nvSpPr>
        <p:spPr>
          <a:xfrm>
            <a:off x="265350" y="663825"/>
            <a:ext cx="8943000" cy="133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lvl="0"/>
            <a:endParaRPr lang="en-SG" sz="1400" dirty="0"/>
          </a:p>
          <a:p>
            <a:pPr lvl="0"/>
            <a:endParaRPr lang="en-SG" sz="1400" dirty="0"/>
          </a:p>
          <a:p>
            <a:pPr lvl="0"/>
            <a:r>
              <a:rPr lang="en-SG" sz="1400" b="1" dirty="0">
                <a:solidFill>
                  <a:schemeClr val="accent5">
                    <a:lumMod val="75000"/>
                  </a:schemeClr>
                </a:solidFill>
              </a:rPr>
              <a:t>GitHub Public Repository</a:t>
            </a:r>
          </a:p>
          <a:p>
            <a:pPr lvl="0"/>
            <a:r>
              <a:rPr lang="en-SG" sz="1400" dirty="0">
                <a:solidFill>
                  <a:schemeClr val="accent5">
                    <a:lumMod val="75000"/>
                  </a:schemeClr>
                </a:solidFill>
              </a:rPr>
              <a:t>https://github.com/edmundzen/ecs-desk</a:t>
            </a:r>
          </a:p>
          <a:p>
            <a:pPr lvl="0"/>
            <a:endParaRPr lang="en-SG" sz="1400" dirty="0"/>
          </a:p>
          <a:p>
            <a:pPr lvl="0"/>
            <a:r>
              <a:rPr lang="en-SG" sz="1400" b="1" dirty="0">
                <a:solidFill>
                  <a:schemeClr val="accent5">
                    <a:lumMod val="75000"/>
                  </a:schemeClr>
                </a:solidFill>
              </a:rPr>
              <a:t>Demo Video Link (3–4 minutes)</a:t>
            </a:r>
          </a:p>
          <a:p>
            <a:pPr lvl="0"/>
            <a:r>
              <a:rPr lang="en-SG" sz="1400" dirty="0">
                <a:solidFill>
                  <a:schemeClr val="accent5">
                    <a:lumMod val="75000"/>
                  </a:schemeClr>
                </a:solidFill>
              </a:rPr>
              <a:t>[paste the public YouTube / Vimeo / Drive link here]</a:t>
            </a:r>
          </a:p>
          <a:p>
            <a:pPr lvl="0"/>
            <a:endParaRPr lang="en-SG" sz="1400" dirty="0"/>
          </a:p>
          <a:p>
            <a:pPr lvl="0"/>
            <a:r>
              <a:rPr lang="en-SG" sz="1400" b="1" dirty="0">
                <a:solidFill>
                  <a:schemeClr val="accent5">
                    <a:lumMod val="75000"/>
                  </a:schemeClr>
                </a:solidFill>
              </a:rPr>
              <a:t>Final Product Link</a:t>
            </a:r>
          </a:p>
          <a:p>
            <a:pPr lvl="0"/>
            <a:r>
              <a:rPr lang="en-SG" sz="1400" dirty="0">
                <a:solidFill>
                  <a:schemeClr val="accent5">
                    <a:lumMod val="75000"/>
                  </a:schemeClr>
                </a:solidFill>
              </a:rPr>
              <a:t>https://ecs-desk-qiabewya3q-as.a.run.app</a:t>
            </a:r>
          </a:p>
          <a:p>
            <a:pPr marL="0" lvl="0" indent="0" algn="l" rtl="0">
              <a:spcBef>
                <a:spcPts val="0"/>
              </a:spcBef>
              <a:spcAft>
                <a:spcPts val="0"/>
              </a:spcAft>
              <a:buNone/>
            </a:pPr>
            <a:endParaRPr sz="1600">
              <a:latin typeface="Google Sans Flex Medium"/>
              <a:ea typeface="Google Sans Flex Medium"/>
              <a:cs typeface="Google Sans Flex Medium"/>
              <a:sym typeface="Google Sans Flex Medium"/>
            </a:endParaRPr>
          </a:p>
          <a:p>
            <a:pPr marL="0" lvl="0" indent="0" algn="l" rtl="0">
              <a:spcBef>
                <a:spcPts val="0"/>
              </a:spcBef>
              <a:spcAft>
                <a:spcPts val="0"/>
              </a:spcAft>
              <a:buNone/>
            </a:pP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TotalTime>
  <Words>1078</Words>
  <Application>Microsoft Office PowerPoint</Application>
  <PresentationFormat>On-screen Show (16:9)</PresentationFormat>
  <Paragraphs>103</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Nirmala UI</vt:lpstr>
      <vt:lpstr>Google Sans Flex SemiBold</vt:lpstr>
      <vt:lpstr>Arial</vt:lpstr>
      <vt:lpstr>Google Sans Flex Medium</vt:lpstr>
      <vt:lpstr>Google Sans Flex</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Edmund Anthony</dc:creator>
  <cp:lastModifiedBy>Sylvia Win</cp:lastModifiedBy>
  <cp:revision>5</cp:revision>
  <dcterms:modified xsi:type="dcterms:W3CDTF">2026-10-14T19:09:10Z</dcterms:modified>
</cp:coreProperties>
</file>